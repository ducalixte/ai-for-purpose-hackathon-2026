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0" r:id="rId1"/>
  </p:sldMasterIdLst>
  <p:sldIdLst>
    <p:sldId id="256" r:id="rId2"/>
    <p:sldId id="257" r:id="rId3"/>
    <p:sldId id="258" r:id="rId4"/>
    <p:sldId id="259" r:id="rId5"/>
    <p:sldId id="264"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p:scale>
          <a:sx n="90" d="100"/>
          <a:sy n="90" d="100"/>
        </p:scale>
        <p:origin x="768" y="8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7/12/26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203475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7/12/26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3919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7/12/26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027618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7/12/26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700546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7/12/26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651824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7/12/26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07173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7/12/26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77043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7/12/26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453812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7/12/26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17281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7/12/26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66299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7/12/26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566485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7/12/26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7011595"/>
      </p:ext>
    </p:extLst>
  </p:cSld>
  <p:clrMap bg1="lt1" tx1="dk1" bg2="lt2" tx2="dk2" accent1="accent1" accent2="accent2" accent3="accent3" accent4="accent4" accent5="accent5" accent6="accent6" hlink="hlink" folHlink="folHlink"/>
  <p:sldLayoutIdLst>
    <p:sldLayoutId id="2147483701" r:id="rId1"/>
    <p:sldLayoutId id="2147483700" r:id="rId2"/>
    <p:sldLayoutId id="2147483699" r:id="rId3"/>
    <p:sldLayoutId id="2147483698" r:id="rId4"/>
    <p:sldLayoutId id="2147483697" r:id="rId5"/>
    <p:sldLayoutId id="2147483696" r:id="rId6"/>
    <p:sldLayoutId id="2147483695" r:id="rId7"/>
    <p:sldLayoutId id="2147483694" r:id="rId8"/>
    <p:sldLayoutId id="2147483693" r:id="rId9"/>
    <p:sldLayoutId id="2147483692" r:id="rId10"/>
    <p:sldLayoutId id="214748369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healthdata.gov/"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rcalixte.shinyapps.io/Maternal_Health_Simulation_Report/" TargetMode="External"/><Relationship Id="rId1" Type="http://schemas.openxmlformats.org/officeDocument/2006/relationships/slideLayout" Target="../slideLayouts/slideLayout9.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nyhealthfoundation.org/wp-content/uploads/2021/04/variation-in-health-care-prices-the-problem-starts-at-birth-may-2021.pdf" TargetMode="External"/><Relationship Id="rId2" Type="http://schemas.openxmlformats.org/officeDocument/2006/relationships/hyperlink" Target="https://hcup-us.ahrq.gov/reports/statbriefs/sb110.pdf" TargetMode="Externa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s://www.healthsystemtracker.org/brief/health-costs-associated-with-pregnancy-childbirth-and-postpartum-car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8F0804-0F7E-5D3A-C775-35C5EC6E68A9}"/>
              </a:ext>
            </a:extLst>
          </p:cNvPr>
          <p:cNvSpPr>
            <a:spLocks noGrp="1"/>
          </p:cNvSpPr>
          <p:nvPr>
            <p:ph type="ctrTitle"/>
          </p:nvPr>
        </p:nvSpPr>
        <p:spPr>
          <a:xfrm>
            <a:off x="703400" y="871758"/>
            <a:ext cx="5676900" cy="3774655"/>
          </a:xfrm>
        </p:spPr>
        <p:txBody>
          <a:bodyPr>
            <a:normAutofit/>
          </a:bodyPr>
          <a:lstStyle/>
          <a:p>
            <a:r>
              <a:rPr lang="en-US" sz="3200"/>
              <a:t>Charges and Cost Differential for Vaginal Births Among Privately Insured Patients in NYC: A 2021-2024 SPARCS Analysis</a:t>
            </a:r>
          </a:p>
        </p:txBody>
      </p:sp>
      <p:sp>
        <p:nvSpPr>
          <p:cNvPr id="3" name="Subtitle 2">
            <a:extLst>
              <a:ext uri="{FF2B5EF4-FFF2-40B4-BE49-F238E27FC236}">
                <a16:creationId xmlns:a16="http://schemas.microsoft.com/office/drawing/2014/main" id="{F3E5D643-1AE8-2D42-8EA8-C218B4B0DDDA}"/>
              </a:ext>
            </a:extLst>
          </p:cNvPr>
          <p:cNvSpPr>
            <a:spLocks noGrp="1"/>
          </p:cNvSpPr>
          <p:nvPr>
            <p:ph type="subTitle" idx="1"/>
          </p:nvPr>
        </p:nvSpPr>
        <p:spPr>
          <a:xfrm>
            <a:off x="721687" y="4380613"/>
            <a:ext cx="5912281" cy="1410587"/>
          </a:xfrm>
        </p:spPr>
        <p:txBody>
          <a:bodyPr>
            <a:normAutofit/>
          </a:bodyPr>
          <a:lstStyle/>
          <a:p>
            <a:pPr>
              <a:spcBef>
                <a:spcPts val="0"/>
              </a:spcBef>
            </a:pPr>
            <a:r>
              <a:rPr lang="en-US"/>
              <a:t>Rose Saint Fleur-Calixte, PhD, PStat®, </a:t>
            </a:r>
          </a:p>
          <a:p>
            <a:pPr>
              <a:spcBef>
                <a:spcPts val="0"/>
              </a:spcBef>
            </a:pPr>
            <a:r>
              <a:rPr lang="en-US"/>
              <a:t>Senior Biostatistician</a:t>
            </a:r>
          </a:p>
          <a:p>
            <a:pPr>
              <a:spcBef>
                <a:spcPts val="0"/>
              </a:spcBef>
            </a:pPr>
            <a:r>
              <a:rPr lang="en-US"/>
              <a:t>Stanley Calixte, </a:t>
            </a:r>
          </a:p>
          <a:p>
            <a:pPr>
              <a:spcBef>
                <a:spcPts val="0"/>
              </a:spcBef>
            </a:pPr>
            <a:r>
              <a:rPr lang="en-US"/>
              <a:t>Software Engineer</a:t>
            </a:r>
          </a:p>
        </p:txBody>
      </p:sp>
      <p:cxnSp>
        <p:nvCxnSpPr>
          <p:cNvPr id="20" name="Straight Connector 19">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9149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4914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49ED6857-77F8-6EC7-A91D-A3EEB1AE268E}"/>
              </a:ext>
            </a:extLst>
          </p:cNvPr>
          <p:cNvPicPr>
            <a:picLocks noChangeAspect="1"/>
          </p:cNvPicPr>
          <p:nvPr/>
        </p:nvPicPr>
        <p:blipFill>
          <a:blip r:embed="rId2"/>
          <a:srcRect l="23007" r="21738" b="-1"/>
          <a:stretch>
            <a:fillRect/>
          </a:stretch>
        </p:blipFill>
        <p:spPr>
          <a:xfrm>
            <a:off x="6633970" y="143612"/>
            <a:ext cx="5558029" cy="6714388"/>
          </a:xfrm>
          <a:prstGeom prst="rect">
            <a:avLst/>
          </a:prstGeom>
        </p:spPr>
      </p:pic>
    </p:spTree>
    <p:extLst>
      <p:ext uri="{BB962C8B-B14F-4D97-AF65-F5344CB8AC3E}">
        <p14:creationId xmlns:p14="http://schemas.microsoft.com/office/powerpoint/2010/main" val="808478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47B3AB07-D04A-8F6B-2C41-D9015DE7E5E2}"/>
              </a:ext>
            </a:extLst>
          </p:cNvPr>
          <p:cNvSpPr>
            <a:spLocks noGrp="1"/>
          </p:cNvSpPr>
          <p:nvPr>
            <p:ph type="title"/>
          </p:nvPr>
        </p:nvSpPr>
        <p:spPr>
          <a:xfrm>
            <a:off x="3076833" y="909638"/>
            <a:ext cx="8409038" cy="1318062"/>
          </a:xfrm>
        </p:spPr>
        <p:txBody>
          <a:bodyPr>
            <a:normAutofit/>
          </a:bodyPr>
          <a:lstStyle/>
          <a:p>
            <a:r>
              <a:rPr lang="en-US"/>
              <a:t>Background and RAtionale</a:t>
            </a:r>
          </a:p>
        </p:txBody>
      </p:sp>
      <p:pic>
        <p:nvPicPr>
          <p:cNvPr id="5" name="Content Placeholder 4">
            <a:extLst>
              <a:ext uri="{FF2B5EF4-FFF2-40B4-BE49-F238E27FC236}">
                <a16:creationId xmlns:a16="http://schemas.microsoft.com/office/drawing/2014/main" id="{330FD082-CBAB-CBEB-394F-F23192E69AA5}"/>
              </a:ext>
            </a:extLst>
          </p:cNvPr>
          <p:cNvPicPr>
            <a:picLocks noChangeAspect="1"/>
          </p:cNvPicPr>
          <p:nvPr/>
        </p:nvPicPr>
        <p:blipFill>
          <a:blip r:embed="rId2"/>
          <a:srcRect l="22959" r="21690" b="-1"/>
          <a:stretch>
            <a:fillRect/>
          </a:stretch>
        </p:blipFill>
        <p:spPr>
          <a:xfrm>
            <a:off x="432506" y="2227700"/>
            <a:ext cx="2496045" cy="3010134"/>
          </a:xfrm>
          <a:prstGeom prst="rect">
            <a:avLst/>
          </a:prstGeom>
        </p:spPr>
      </p:pic>
      <p:cxnSp>
        <p:nvCxnSpPr>
          <p:cNvPr id="15" name="Straight Connector 14">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22739" y="722376"/>
            <a:ext cx="16002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9">
            <a:extLst>
              <a:ext uri="{FF2B5EF4-FFF2-40B4-BE49-F238E27FC236}">
                <a16:creationId xmlns:a16="http://schemas.microsoft.com/office/drawing/2014/main" id="{8A72A7B8-F791-3F65-6FAB-3138FE2EDC41}"/>
              </a:ext>
            </a:extLst>
          </p:cNvPr>
          <p:cNvSpPr>
            <a:spLocks noGrp="1"/>
          </p:cNvSpPr>
          <p:nvPr>
            <p:ph idx="1"/>
          </p:nvPr>
        </p:nvSpPr>
        <p:spPr>
          <a:xfrm>
            <a:off x="3076833" y="1711842"/>
            <a:ext cx="8415127" cy="4795283"/>
          </a:xfrm>
        </p:spPr>
        <p:txBody>
          <a:bodyPr>
            <a:normAutofit lnSpcReduction="10000"/>
          </a:bodyPr>
          <a:lstStyle/>
          <a:p>
            <a:r>
              <a:rPr lang="en-US"/>
              <a:t>Vaginal births are among the most frequently billed inpatient procedures in the U.S. [1]</a:t>
            </a:r>
            <a:endParaRPr lang="en-US" b="1"/>
          </a:p>
          <a:p>
            <a:r>
              <a:rPr lang="en-US"/>
              <a:t>Hospital billing and reimbursement for routine vaginal births vary widely across NYC hospitals, even among clinically similar patients. [2] </a:t>
            </a:r>
          </a:p>
          <a:p>
            <a:r>
              <a:rPr lang="en-US"/>
              <a:t>Cost variation often overlaps with structural inequities: hospital type, neighborhood resources, and patient demographics. [2]</a:t>
            </a:r>
          </a:p>
          <a:p>
            <a:r>
              <a:rPr lang="en-US"/>
              <a:t>For privately insured families, childbirth is often the single most expensive health event of the year. High or unpredictable costs can lead to medical debt, delayed postpartum care, or avoidance of future health services. [3]</a:t>
            </a:r>
          </a:p>
          <a:p>
            <a:r>
              <a:rPr lang="en-US"/>
              <a:t>Public, private, and community hospitals operate under different financial pressures.[2] Understanding how these pressures translate into billing practices helps policymakers evaluate whether certain hospital types systematically overcharge or undercharge for routine maternal care.</a:t>
            </a:r>
          </a:p>
        </p:txBody>
      </p:sp>
    </p:spTree>
    <p:extLst>
      <p:ext uri="{BB962C8B-B14F-4D97-AF65-F5344CB8AC3E}">
        <p14:creationId xmlns:p14="http://schemas.microsoft.com/office/powerpoint/2010/main" val="10766614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29A4F-00A7-2BC2-04C2-32800F7C5AB3}"/>
              </a:ext>
            </a:extLst>
          </p:cNvPr>
          <p:cNvSpPr>
            <a:spLocks noGrp="1"/>
          </p:cNvSpPr>
          <p:nvPr>
            <p:ph type="title"/>
          </p:nvPr>
        </p:nvSpPr>
        <p:spPr/>
        <p:txBody>
          <a:bodyPr/>
          <a:lstStyle/>
          <a:p>
            <a:r>
              <a:rPr lang="en-US"/>
              <a:t>Data Source</a:t>
            </a:r>
          </a:p>
        </p:txBody>
      </p:sp>
      <p:sp>
        <p:nvSpPr>
          <p:cNvPr id="3" name="Content Placeholder 2">
            <a:extLst>
              <a:ext uri="{FF2B5EF4-FFF2-40B4-BE49-F238E27FC236}">
                <a16:creationId xmlns:a16="http://schemas.microsoft.com/office/drawing/2014/main" id="{B87F2B72-8BDA-5ECD-E3CB-806236FB67AF}"/>
              </a:ext>
            </a:extLst>
          </p:cNvPr>
          <p:cNvSpPr>
            <a:spLocks noGrp="1"/>
          </p:cNvSpPr>
          <p:nvPr>
            <p:ph idx="1"/>
          </p:nvPr>
        </p:nvSpPr>
        <p:spPr>
          <a:xfrm>
            <a:off x="700635" y="1839433"/>
            <a:ext cx="10691265" cy="4316818"/>
          </a:xfrm>
        </p:spPr>
        <p:txBody>
          <a:bodyPr>
            <a:normAutofit fontScale="92500" lnSpcReduction="20000"/>
          </a:bodyPr>
          <a:lstStyle/>
          <a:p>
            <a:r>
              <a:rPr lang="en-US"/>
              <a:t>Statewide Planning and Research Cooperative System (SPARCS) Inpatient De-identified File from (</a:t>
            </a:r>
            <a:r>
              <a:rPr lang="en-US">
                <a:hlinkClick r:id="rId2"/>
              </a:rPr>
              <a:t>https://healthdata.gov/</a:t>
            </a:r>
            <a:r>
              <a:rPr lang="en-US"/>
              <a:t>) from 2021-2024.</a:t>
            </a:r>
          </a:p>
          <a:p>
            <a:r>
              <a:rPr lang="en-US"/>
              <a:t>Inclusion Criteria:</a:t>
            </a:r>
          </a:p>
          <a:p>
            <a:pPr lvl="1"/>
            <a:r>
              <a:rPr lang="en-US"/>
              <a:t>All Vaginal Delivery with no other additional procedures (N = 96.387)</a:t>
            </a:r>
          </a:p>
          <a:p>
            <a:pPr lvl="1"/>
            <a:r>
              <a:rPr lang="en-US"/>
              <a:t>Hospital County: Bronx, Kings, New York, Queens, and Richmond</a:t>
            </a:r>
          </a:p>
          <a:p>
            <a:pPr lvl="1"/>
            <a:r>
              <a:rPr lang="en-US"/>
              <a:t>Private Insurance or Blue Cross/Blue Shield (No other proprietary names are listed in the data).</a:t>
            </a:r>
          </a:p>
          <a:p>
            <a:pPr lvl="1"/>
            <a:r>
              <a:rPr lang="en-US"/>
              <a:t>Age 18-49 years old</a:t>
            </a:r>
          </a:p>
          <a:p>
            <a:pPr lvl="1"/>
            <a:r>
              <a:rPr lang="en-US"/>
              <a:t>Minor Risk of Mortality</a:t>
            </a:r>
          </a:p>
          <a:p>
            <a:r>
              <a:rPr lang="en-US"/>
              <a:t>Outcomes</a:t>
            </a:r>
          </a:p>
          <a:p>
            <a:pPr lvl="1"/>
            <a:r>
              <a:rPr lang="en-US"/>
              <a:t>Total charges: Total charges for the discharge</a:t>
            </a:r>
          </a:p>
          <a:p>
            <a:pPr lvl="1"/>
            <a:r>
              <a:rPr lang="en-US"/>
              <a:t>Total costs: Total estimated cost for the discharge</a:t>
            </a:r>
          </a:p>
          <a:p>
            <a:pPr lvl="1"/>
            <a:r>
              <a:rPr lang="en-US"/>
              <a:t>Cost differential: derived as total costs - total charges</a:t>
            </a:r>
          </a:p>
          <a:p>
            <a:pPr lvl="1"/>
            <a:r>
              <a:rPr lang="en-US"/>
              <a:t>Total costs ≥ 50% total charges. </a:t>
            </a:r>
          </a:p>
        </p:txBody>
      </p:sp>
      <p:pic>
        <p:nvPicPr>
          <p:cNvPr id="5" name="Picture 4">
            <a:extLst>
              <a:ext uri="{FF2B5EF4-FFF2-40B4-BE49-F238E27FC236}">
                <a16:creationId xmlns:a16="http://schemas.microsoft.com/office/drawing/2014/main" id="{EC6ADBF9-006C-848F-F5FC-641EBE7F0583}"/>
              </a:ext>
            </a:extLst>
          </p:cNvPr>
          <p:cNvPicPr>
            <a:picLocks noChangeAspect="1"/>
          </p:cNvPicPr>
          <p:nvPr/>
        </p:nvPicPr>
        <p:blipFill>
          <a:blip r:embed="rId3"/>
          <a:stretch>
            <a:fillRect/>
          </a:stretch>
        </p:blipFill>
        <p:spPr>
          <a:xfrm>
            <a:off x="8626046" y="4121676"/>
            <a:ext cx="3051863" cy="2034575"/>
          </a:xfrm>
          <a:prstGeom prst="rect">
            <a:avLst/>
          </a:prstGeom>
        </p:spPr>
      </p:pic>
    </p:spTree>
    <p:extLst>
      <p:ext uri="{BB962C8B-B14F-4D97-AF65-F5344CB8AC3E}">
        <p14:creationId xmlns:p14="http://schemas.microsoft.com/office/powerpoint/2010/main" val="2069235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5509F9-A697-5B7C-ADB1-225E19F90713}"/>
              </a:ext>
            </a:extLst>
          </p:cNvPr>
          <p:cNvSpPr>
            <a:spLocks noGrp="1"/>
          </p:cNvSpPr>
          <p:nvPr>
            <p:ph type="title"/>
          </p:nvPr>
        </p:nvSpPr>
        <p:spPr>
          <a:xfrm>
            <a:off x="3379663" y="909638"/>
            <a:ext cx="8106208" cy="1318062"/>
          </a:xfrm>
        </p:spPr>
        <p:txBody>
          <a:bodyPr>
            <a:normAutofit/>
          </a:bodyPr>
          <a:lstStyle/>
          <a:p>
            <a:r>
              <a:rPr lang="en-US"/>
              <a:t>LLM Prompts (Gemini)</a:t>
            </a:r>
          </a:p>
        </p:txBody>
      </p:sp>
      <p:pic>
        <p:nvPicPr>
          <p:cNvPr id="5" name="Picture 4">
            <a:extLst>
              <a:ext uri="{FF2B5EF4-FFF2-40B4-BE49-F238E27FC236}">
                <a16:creationId xmlns:a16="http://schemas.microsoft.com/office/drawing/2014/main" id="{4387C573-BF72-8E6A-2B26-9AB2642C0799}"/>
              </a:ext>
            </a:extLst>
          </p:cNvPr>
          <p:cNvPicPr>
            <a:picLocks noChangeAspect="1"/>
          </p:cNvPicPr>
          <p:nvPr/>
        </p:nvPicPr>
        <p:blipFill>
          <a:blip r:embed="rId2"/>
          <a:srcRect l="22959" r="21690" b="-1"/>
          <a:stretch>
            <a:fillRect/>
          </a:stretch>
        </p:blipFill>
        <p:spPr>
          <a:xfrm>
            <a:off x="127610" y="2326843"/>
            <a:ext cx="2928531" cy="3531696"/>
          </a:xfrm>
          <a:prstGeom prst="rect">
            <a:avLst/>
          </a:prstGeom>
        </p:spPr>
      </p:pic>
      <p:cxnSp>
        <p:nvCxnSpPr>
          <p:cNvPr id="12" name="Straight Connector 11">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22739" y="722376"/>
            <a:ext cx="16002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AD78C19-2B0F-0563-43D3-8F04C5EDA1AF}"/>
              </a:ext>
            </a:extLst>
          </p:cNvPr>
          <p:cNvSpPr>
            <a:spLocks noGrp="1"/>
          </p:cNvSpPr>
          <p:nvPr>
            <p:ph idx="1"/>
          </p:nvPr>
        </p:nvSpPr>
        <p:spPr>
          <a:xfrm>
            <a:off x="3385752" y="2236843"/>
            <a:ext cx="8106208" cy="3931920"/>
          </a:xfrm>
        </p:spPr>
        <p:txBody>
          <a:bodyPr>
            <a:normAutofit lnSpcReduction="10000"/>
          </a:bodyPr>
          <a:lstStyle/>
          <a:p>
            <a:pPr>
              <a:lnSpc>
                <a:spcPct val="100000"/>
              </a:lnSpc>
            </a:pPr>
            <a:r>
              <a:rPr lang="en-US"/>
              <a:t>I want to understand reimbursement patterns for live births in NYC using SPARCS data among privately insured patients.  Do private hospitals receive higher reimbursement than public hospitals?  The project is based on publicly available SPARCS data from NYS. </a:t>
            </a:r>
            <a:br>
              <a:rPr lang="en-US"/>
            </a:br>
            <a:endParaRPr lang="en-US"/>
          </a:p>
          <a:p>
            <a:pPr>
              <a:lnSpc>
                <a:spcPct val="100000"/>
              </a:lnSpc>
            </a:pPr>
            <a:r>
              <a:rPr lang="en-US"/>
              <a:t>What predictive modeling strategies can be used and compared for best model fit?</a:t>
            </a:r>
            <a:br>
              <a:rPr lang="en-US"/>
            </a:br>
            <a:endParaRPr lang="en-US"/>
          </a:p>
          <a:p>
            <a:pPr>
              <a:lnSpc>
                <a:spcPct val="100000"/>
              </a:lnSpc>
            </a:pPr>
            <a:r>
              <a:rPr lang="en-US"/>
              <a:t>Can this project be powered by SAS VFL or R? Which of the two platforms is better to use if we want to use this analysis to power a project that can be prompted to write reports based on the results of the analysis?</a:t>
            </a:r>
            <a:br>
              <a:rPr lang="en-US" sz="1600"/>
            </a:br>
            <a:endParaRPr lang="en-US" sz="1600"/>
          </a:p>
        </p:txBody>
      </p:sp>
    </p:spTree>
    <p:extLst>
      <p:ext uri="{BB962C8B-B14F-4D97-AF65-F5344CB8AC3E}">
        <p14:creationId xmlns:p14="http://schemas.microsoft.com/office/powerpoint/2010/main" val="1518856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EC0408A-B2DD-F8DC-3856-E62D02B83942}"/>
              </a:ext>
            </a:extLst>
          </p:cNvPr>
          <p:cNvSpPr>
            <a:spLocks noGrp="1"/>
          </p:cNvSpPr>
          <p:nvPr>
            <p:ph type="title"/>
          </p:nvPr>
        </p:nvSpPr>
        <p:spPr/>
        <p:txBody>
          <a:bodyPr/>
          <a:lstStyle/>
          <a:p>
            <a:r>
              <a:rPr lang="en-US"/>
              <a:t>Model/Analysis/Results</a:t>
            </a:r>
          </a:p>
        </p:txBody>
      </p:sp>
      <p:sp>
        <p:nvSpPr>
          <p:cNvPr id="6" name="Text Placeholder 5">
            <a:extLst>
              <a:ext uri="{FF2B5EF4-FFF2-40B4-BE49-F238E27FC236}">
                <a16:creationId xmlns:a16="http://schemas.microsoft.com/office/drawing/2014/main" id="{FEC5C8B1-7A0B-18D6-ED64-2EBBC6833B24}"/>
              </a:ext>
            </a:extLst>
          </p:cNvPr>
          <p:cNvSpPr>
            <a:spLocks noGrp="1"/>
          </p:cNvSpPr>
          <p:nvPr>
            <p:ph type="body" sz="half" idx="2"/>
          </p:nvPr>
        </p:nvSpPr>
        <p:spPr/>
        <p:txBody>
          <a:bodyPr>
            <a:normAutofit fontScale="70000" lnSpcReduction="20000"/>
          </a:bodyPr>
          <a:lstStyle/>
          <a:p>
            <a:pPr>
              <a:lnSpc>
                <a:spcPct val="100000"/>
              </a:lnSpc>
            </a:pPr>
            <a:r>
              <a:rPr lang="en-US"/>
              <a:t>We randomly split the data into training set (70%) and test set (30%). </a:t>
            </a:r>
          </a:p>
          <a:p>
            <a:pPr>
              <a:lnSpc>
                <a:spcPct val="100000"/>
              </a:lnSpc>
            </a:pPr>
            <a:r>
              <a:rPr lang="en-US"/>
              <a:t>Using tidymodels, we create a set of surpervise machine learning model (linear regression, ridge regression, regression tree, random forest, and gradient boosting) for continuous variables and a classification set of models (logistic regression, decision tree, random forest, and gradient boosting) for the binary variable. </a:t>
            </a:r>
          </a:p>
          <a:p>
            <a:pPr>
              <a:lnSpc>
                <a:spcPct val="100000"/>
              </a:lnSpc>
            </a:pPr>
            <a:r>
              <a:rPr lang="en-US"/>
              <a:t>Models were compared to find a champiom model (RMSE for continous, accurary and ROC for binary). </a:t>
            </a:r>
          </a:p>
          <a:p>
            <a:pPr>
              <a:lnSpc>
                <a:spcPct val="100000"/>
              </a:lnSpc>
            </a:pPr>
            <a:r>
              <a:rPr lang="en-US"/>
              <a:t>The champion model across each outcome was retained and pushed to the local directory using the vetiver and pins packages.</a:t>
            </a:r>
          </a:p>
          <a:p>
            <a:pPr>
              <a:lnSpc>
                <a:spcPct val="100000"/>
              </a:lnSpc>
            </a:pPr>
            <a:r>
              <a:rPr lang="en-US"/>
              <a:t>We then create and launch a </a:t>
            </a:r>
            <a:r>
              <a:rPr lang="en-US">
                <a:hlinkClick r:id="rId2"/>
              </a:rPr>
              <a:t>shinyapp</a:t>
            </a:r>
            <a:r>
              <a:rPr lang="en-US"/>
              <a:t> that display the result of the champion models and summarize the full analytic sample. </a:t>
            </a:r>
          </a:p>
          <a:p>
            <a:pPr>
              <a:lnSpc>
                <a:spcPct val="100000"/>
              </a:lnSpc>
            </a:pPr>
            <a:r>
              <a:rPr lang="en-US"/>
              <a:t>End user can generate report based on simulated patient profile to estimate pricing for privately insured pregnant person, expected to have an uncomplicated vaginal delivery.</a:t>
            </a:r>
          </a:p>
        </p:txBody>
      </p:sp>
      <p:pic>
        <p:nvPicPr>
          <p:cNvPr id="11" name="Picture Placeholder 10">
            <a:extLst>
              <a:ext uri="{FF2B5EF4-FFF2-40B4-BE49-F238E27FC236}">
                <a16:creationId xmlns:a16="http://schemas.microsoft.com/office/drawing/2014/main" id="{2A146027-DA95-DAFD-164D-D5ED546FBC17}"/>
              </a:ext>
            </a:extLst>
          </p:cNvPr>
          <p:cNvPicPr>
            <a:picLocks noGrp="1" noChangeAspect="1"/>
          </p:cNvPicPr>
          <p:nvPr>
            <p:ph type="pic" idx="1"/>
          </p:nvPr>
        </p:nvPicPr>
        <p:blipFill rotWithShape="1">
          <a:blip r:embed="rId3"/>
          <a:srcRect l="-5341" r="-28634"/>
          <a:stretch>
            <a:fillRect/>
          </a:stretch>
        </p:blipFill>
        <p:spPr>
          <a:xfrm>
            <a:off x="5183188" y="1066800"/>
            <a:ext cx="6172200" cy="4794250"/>
          </a:xfrm>
          <a:prstGeom prst="rect">
            <a:avLst/>
          </a:prstGeom>
        </p:spPr>
      </p:pic>
      <p:pic>
        <p:nvPicPr>
          <p:cNvPr id="13" name="Picture 12">
            <a:extLst>
              <a:ext uri="{FF2B5EF4-FFF2-40B4-BE49-F238E27FC236}">
                <a16:creationId xmlns:a16="http://schemas.microsoft.com/office/drawing/2014/main" id="{B9E4E9F6-1978-BE50-D2E9-30958C96DDEC}"/>
              </a:ext>
            </a:extLst>
          </p:cNvPr>
          <p:cNvPicPr>
            <a:picLocks noChangeAspect="1"/>
          </p:cNvPicPr>
          <p:nvPr/>
        </p:nvPicPr>
        <p:blipFill>
          <a:blip r:embed="rId4"/>
          <a:stretch>
            <a:fillRect/>
          </a:stretch>
        </p:blipFill>
        <p:spPr>
          <a:xfrm>
            <a:off x="9348790" y="4457700"/>
            <a:ext cx="2843210" cy="1895473"/>
          </a:xfrm>
          <a:prstGeom prst="rect">
            <a:avLst/>
          </a:prstGeom>
        </p:spPr>
      </p:pic>
    </p:spTree>
    <p:extLst>
      <p:ext uri="{BB962C8B-B14F-4D97-AF65-F5344CB8AC3E}">
        <p14:creationId xmlns:p14="http://schemas.microsoft.com/office/powerpoint/2010/main" val="3131618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D5A33F-1D95-4CFF-087A-C6F3793BFD55}"/>
              </a:ext>
            </a:extLst>
          </p:cNvPr>
          <p:cNvSpPr>
            <a:spLocks noGrp="1"/>
          </p:cNvSpPr>
          <p:nvPr>
            <p:ph type="title"/>
          </p:nvPr>
        </p:nvSpPr>
        <p:spPr>
          <a:xfrm>
            <a:off x="2502333" y="722376"/>
            <a:ext cx="8983537" cy="1505324"/>
          </a:xfrm>
        </p:spPr>
        <p:txBody>
          <a:bodyPr>
            <a:normAutofit/>
          </a:bodyPr>
          <a:lstStyle/>
          <a:p>
            <a:r>
              <a:rPr lang="en-US"/>
              <a:t>Conclusions</a:t>
            </a:r>
          </a:p>
        </p:txBody>
      </p:sp>
      <p:pic>
        <p:nvPicPr>
          <p:cNvPr id="5" name="Content Placeholder 4">
            <a:extLst>
              <a:ext uri="{FF2B5EF4-FFF2-40B4-BE49-F238E27FC236}">
                <a16:creationId xmlns:a16="http://schemas.microsoft.com/office/drawing/2014/main" id="{D5590966-7BDD-B808-41A0-195A06037DD6}"/>
              </a:ext>
            </a:extLst>
          </p:cNvPr>
          <p:cNvPicPr>
            <a:picLocks noChangeAspect="1"/>
          </p:cNvPicPr>
          <p:nvPr/>
        </p:nvPicPr>
        <p:blipFill>
          <a:blip r:embed="rId2"/>
          <a:srcRect l="22959" r="21690" b="-1"/>
          <a:stretch>
            <a:fillRect/>
          </a:stretch>
        </p:blipFill>
        <p:spPr>
          <a:xfrm>
            <a:off x="20" y="4399230"/>
            <a:ext cx="2038845" cy="2458769"/>
          </a:xfrm>
          <a:prstGeom prst="rect">
            <a:avLst/>
          </a:prstGeom>
        </p:spPr>
      </p:pic>
      <p:cxnSp>
        <p:nvCxnSpPr>
          <p:cNvPr id="14" name="Straight Connector 13">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22739" y="722376"/>
            <a:ext cx="16002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8">
            <a:extLst>
              <a:ext uri="{FF2B5EF4-FFF2-40B4-BE49-F238E27FC236}">
                <a16:creationId xmlns:a16="http://schemas.microsoft.com/office/drawing/2014/main" id="{BDE4ACEB-F295-4013-7341-A6123FF10D78}"/>
              </a:ext>
            </a:extLst>
          </p:cNvPr>
          <p:cNvSpPr>
            <a:spLocks noGrp="1"/>
          </p:cNvSpPr>
          <p:nvPr>
            <p:ph idx="1"/>
          </p:nvPr>
        </p:nvSpPr>
        <p:spPr>
          <a:xfrm>
            <a:off x="2190308" y="1754373"/>
            <a:ext cx="9301652" cy="4667683"/>
          </a:xfrm>
        </p:spPr>
        <p:txBody>
          <a:bodyPr>
            <a:normAutofit/>
          </a:bodyPr>
          <a:lstStyle/>
          <a:p>
            <a:r>
              <a:rPr lang="en-US"/>
              <a:t>The full analytic sample revealed some interesting facts about uncomplicated vaginal birth in NYC.</a:t>
            </a:r>
          </a:p>
          <a:p>
            <a:pPr lvl="1"/>
            <a:r>
              <a:rPr lang="en-US"/>
              <a:t>While 21-23% of female in NYC (18-49 yo) are black, only 11% had uncomplicated vaginal birth.  What is unknown is what proportion of people given birth in NYC traveled from outside of NYC</a:t>
            </a:r>
          </a:p>
          <a:p>
            <a:pPr lvl="1"/>
            <a:r>
              <a:rPr lang="en-US"/>
              <a:t>Most of the births occurs in New York (Manhttan) County.</a:t>
            </a:r>
          </a:p>
          <a:p>
            <a:pPr lvl="1"/>
            <a:r>
              <a:rPr lang="en-US"/>
              <a:t>The average hospital charge for an uncomplicated birth over the 4 years was $34,867, which steadily increased from $31,276 in 2021 to $38,443 in 2024 (a 23% increase in hospital charge).</a:t>
            </a:r>
          </a:p>
          <a:p>
            <a:pPr lvl="1"/>
            <a:r>
              <a:rPr lang="en-US"/>
              <a:t>The reimbursement averaged $10,156, which increased from $9,093 in 2021 to $11,485 in 2024 (a 26% increase).</a:t>
            </a:r>
          </a:p>
          <a:p>
            <a:pPr lvl="1"/>
            <a:r>
              <a:rPr lang="en-US"/>
              <a:t>The gap in reimbursement increased from $22,183 to $26,958 (a 22% increase)</a:t>
            </a:r>
          </a:p>
          <a:p>
            <a:pPr lvl="1"/>
            <a:r>
              <a:rPr lang="en-US"/>
              <a:t>The reimbursement percentage exceeds 50% in only 30.4% of the cases.</a:t>
            </a:r>
          </a:p>
        </p:txBody>
      </p:sp>
    </p:spTree>
    <p:extLst>
      <p:ext uri="{BB962C8B-B14F-4D97-AF65-F5344CB8AC3E}">
        <p14:creationId xmlns:p14="http://schemas.microsoft.com/office/powerpoint/2010/main" val="10399706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B3BA1C-6D8A-BA26-69C1-8BD86702B9BF}"/>
              </a:ext>
            </a:extLst>
          </p:cNvPr>
          <p:cNvSpPr>
            <a:spLocks noGrp="1"/>
          </p:cNvSpPr>
          <p:nvPr>
            <p:ph type="title"/>
          </p:nvPr>
        </p:nvSpPr>
        <p:spPr>
          <a:xfrm>
            <a:off x="704088" y="914400"/>
            <a:ext cx="5195889" cy="1316736"/>
          </a:xfrm>
        </p:spPr>
        <p:txBody>
          <a:bodyPr>
            <a:normAutofit/>
          </a:bodyPr>
          <a:lstStyle/>
          <a:p>
            <a:r>
              <a:rPr lang="en-US"/>
              <a:t>Limitations</a:t>
            </a:r>
          </a:p>
        </p:txBody>
      </p:sp>
      <p:cxnSp>
        <p:nvCxnSpPr>
          <p:cNvPr id="12" name="Straight Connector 11">
            <a:extLst>
              <a:ext uri="{FF2B5EF4-FFF2-40B4-BE49-F238E27FC236}">
                <a16:creationId xmlns:a16="http://schemas.microsoft.com/office/drawing/2014/main" id="{F2B951FD-94F7-E138-3EC2-A66A551D91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0AF1E02-526F-4E5C-3AC4-9C13151C792A}"/>
              </a:ext>
            </a:extLst>
          </p:cNvPr>
          <p:cNvSpPr>
            <a:spLocks noGrp="1"/>
          </p:cNvSpPr>
          <p:nvPr>
            <p:ph idx="1"/>
          </p:nvPr>
        </p:nvSpPr>
        <p:spPr>
          <a:xfrm>
            <a:off x="704088" y="2231136"/>
            <a:ext cx="8439912" cy="3931920"/>
          </a:xfrm>
        </p:spPr>
        <p:txBody>
          <a:bodyPr>
            <a:normAutofit/>
          </a:bodyPr>
          <a:lstStyle/>
          <a:p>
            <a:pPr>
              <a:lnSpc>
                <a:spcPct val="100000"/>
              </a:lnSpc>
            </a:pPr>
            <a:r>
              <a:rPr lang="en-US" sz="1700"/>
              <a:t>The quantitative outcomes are positively skewed.  The present model did not use a normalized version of these outcomes.  </a:t>
            </a:r>
          </a:p>
          <a:p>
            <a:pPr>
              <a:lnSpc>
                <a:spcPct val="100000"/>
              </a:lnSpc>
            </a:pPr>
            <a:r>
              <a:rPr lang="en-US" sz="1700"/>
              <a:t>Due to the nature of the publicly available data, we are unable to identify the percentage of repeat pregnancies within any given calenday year or across the 4 calendar years.</a:t>
            </a:r>
          </a:p>
          <a:p>
            <a:pPr>
              <a:lnSpc>
                <a:spcPct val="100000"/>
              </a:lnSpc>
            </a:pPr>
            <a:r>
              <a:rPr lang="en-US" sz="1700"/>
              <a:t>We assume that multiple pregnancies from the same individual should constitute independent billing entities and should not affect the prediction.</a:t>
            </a:r>
          </a:p>
          <a:p>
            <a:pPr>
              <a:lnSpc>
                <a:spcPct val="100000"/>
              </a:lnSpc>
            </a:pPr>
            <a:r>
              <a:rPr lang="en-US" sz="1700"/>
              <a:t>Furthermore, only about 0.2% of birthing individuals have two deliveries within any 12-month period. </a:t>
            </a:r>
          </a:p>
          <a:p>
            <a:pPr>
              <a:lnSpc>
                <a:spcPct val="100000"/>
              </a:lnSpc>
            </a:pPr>
            <a:r>
              <a:rPr lang="en-US" sz="1700"/>
              <a:t>Lastly cross-sectional data was used.  Any observable significant differences should be interpreted in the context of the analysis being presented.</a:t>
            </a:r>
          </a:p>
          <a:p>
            <a:pPr marL="0" indent="0">
              <a:lnSpc>
                <a:spcPct val="100000"/>
              </a:lnSpc>
              <a:buNone/>
            </a:pPr>
            <a:endParaRPr lang="en-US" sz="1700"/>
          </a:p>
        </p:txBody>
      </p:sp>
      <p:pic>
        <p:nvPicPr>
          <p:cNvPr id="5" name="Picture 4">
            <a:extLst>
              <a:ext uri="{FF2B5EF4-FFF2-40B4-BE49-F238E27FC236}">
                <a16:creationId xmlns:a16="http://schemas.microsoft.com/office/drawing/2014/main" id="{5CF53795-2B95-5ACC-E25A-6455A6829A75}"/>
              </a:ext>
            </a:extLst>
          </p:cNvPr>
          <p:cNvPicPr>
            <a:picLocks noChangeAspect="1"/>
          </p:cNvPicPr>
          <p:nvPr/>
        </p:nvPicPr>
        <p:blipFill>
          <a:blip r:embed="rId2"/>
          <a:srcRect l="22548" r="21279" b="-2"/>
          <a:stretch>
            <a:fillRect/>
          </a:stretch>
        </p:blipFill>
        <p:spPr>
          <a:xfrm>
            <a:off x="9551773" y="2350755"/>
            <a:ext cx="2394179" cy="2845013"/>
          </a:xfrm>
          <a:prstGeom prst="rect">
            <a:avLst/>
          </a:prstGeom>
        </p:spPr>
      </p:pic>
    </p:spTree>
    <p:extLst>
      <p:ext uri="{BB962C8B-B14F-4D97-AF65-F5344CB8AC3E}">
        <p14:creationId xmlns:p14="http://schemas.microsoft.com/office/powerpoint/2010/main" val="33300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3DED8-B4C4-EE60-B0E4-969A6E1CD146}"/>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EE448666-65EF-8883-8B21-706BDFDE2DCC}"/>
              </a:ext>
            </a:extLst>
          </p:cNvPr>
          <p:cNvSpPr>
            <a:spLocks noGrp="1"/>
          </p:cNvSpPr>
          <p:nvPr>
            <p:ph idx="1"/>
          </p:nvPr>
        </p:nvSpPr>
        <p:spPr/>
        <p:txBody>
          <a:bodyPr/>
          <a:lstStyle/>
          <a:p>
            <a:pPr marL="457200" indent="-457200">
              <a:buFont typeface="+mj-lt"/>
              <a:buAutoNum type="arabicPeriod"/>
            </a:pPr>
            <a:r>
              <a:rPr lang="en-US"/>
              <a:t>Podulka, J. (Thomson Reuters), Stranges, E. (Thomson Reuters), and Steiner, C. (AHRQ). </a:t>
            </a:r>
            <a:r>
              <a:rPr lang="en-US" i="1"/>
              <a:t>Hospitalizations Related to Childbirth, 2008.</a:t>
            </a:r>
            <a:r>
              <a:rPr lang="en-US"/>
              <a:t> HCUP Statistical Brief #110. April 2011. Agency for Healthcare Research and Quality, Rockville, MD. </a:t>
            </a:r>
            <a:r>
              <a:rPr lang="en-US" u="sng">
                <a:hlinkClick r:id="rId2"/>
              </a:rPr>
              <a:t>http://www.hcup-us.ahrq.gov/reports/statbriefs/sb110.pdf.</a:t>
            </a:r>
            <a:endParaRPr lang="en-US" u="sng"/>
          </a:p>
          <a:p>
            <a:pPr marL="457200" indent="-457200">
              <a:buFont typeface="+mj-lt"/>
              <a:buAutoNum type="arabicPeriod"/>
            </a:pPr>
            <a:r>
              <a:rPr lang="en-US"/>
              <a:t>New York State Health Foundation</a:t>
            </a:r>
            <a:r>
              <a:rPr lang="en-US" b="1"/>
              <a:t>.</a:t>
            </a:r>
            <a:r>
              <a:rPr lang="en-US"/>
              <a:t> (2021). </a:t>
            </a:r>
            <a:r>
              <a:rPr lang="en-US" i="1"/>
              <a:t>Variation in health care prices: The problem starts at birth</a:t>
            </a:r>
            <a:r>
              <a:rPr lang="en-US"/>
              <a:t>. </a:t>
            </a:r>
            <a:r>
              <a:rPr lang="en-US">
                <a:hlinkClick r:id="rId3"/>
              </a:rPr>
              <a:t>https://nyhealthfoundation.org/wp-content/uploads/2021/04/variation-in-health-care-prices-the-problem-starts-at-birth-may-2021.pdf</a:t>
            </a:r>
            <a:endParaRPr lang="en-US"/>
          </a:p>
          <a:p>
            <a:pPr marL="457200" indent="-457200">
              <a:buFont typeface="+mj-lt"/>
              <a:buAutoNum type="arabicPeriod"/>
            </a:pPr>
            <a:r>
              <a:rPr lang="en-US"/>
              <a:t>Peterson‑KFF Health System Tracker. (2024). </a:t>
            </a:r>
            <a:r>
              <a:rPr lang="en-US" i="1"/>
              <a:t>Health costs associated with pregnancy, childbirth, and postpartum care</a:t>
            </a:r>
            <a:r>
              <a:rPr lang="en-US"/>
              <a:t>. </a:t>
            </a:r>
            <a:r>
              <a:rPr lang="en-US">
                <a:hlinkClick r:id="rId4"/>
              </a:rPr>
              <a:t>https://www.healthsystemtracker.org/brief/health-costs-associated-with-pregnancy-childbirth-and-postpartum-care/</a:t>
            </a:r>
            <a:endParaRPr lang="en-US"/>
          </a:p>
        </p:txBody>
      </p:sp>
      <p:pic>
        <p:nvPicPr>
          <p:cNvPr id="5" name="Picture 4">
            <a:extLst>
              <a:ext uri="{FF2B5EF4-FFF2-40B4-BE49-F238E27FC236}">
                <a16:creationId xmlns:a16="http://schemas.microsoft.com/office/drawing/2014/main" id="{2DEC4DB2-CB81-32DF-AEA1-5ED883518C6A}"/>
              </a:ext>
            </a:extLst>
          </p:cNvPr>
          <p:cNvPicPr>
            <a:picLocks noChangeAspect="1"/>
          </p:cNvPicPr>
          <p:nvPr/>
        </p:nvPicPr>
        <p:blipFill>
          <a:blip r:embed="rId5"/>
          <a:stretch>
            <a:fillRect/>
          </a:stretch>
        </p:blipFill>
        <p:spPr>
          <a:xfrm>
            <a:off x="9025940" y="642551"/>
            <a:ext cx="2650524" cy="1767016"/>
          </a:xfrm>
          <a:prstGeom prst="rect">
            <a:avLst/>
          </a:prstGeom>
        </p:spPr>
      </p:pic>
    </p:spTree>
    <p:extLst>
      <p:ext uri="{BB962C8B-B14F-4D97-AF65-F5344CB8AC3E}">
        <p14:creationId xmlns:p14="http://schemas.microsoft.com/office/powerpoint/2010/main" val="2645491979"/>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emplate/>
  <TotalTime>162</TotalTime>
  <Words>989</Words>
  <Application>Microsoft Macintosh PowerPoint</Application>
  <PresentationFormat>Widescreen</PresentationFormat>
  <Paragraphs>53</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Calisto MT</vt:lpstr>
      <vt:lpstr>Univers Condensed</vt:lpstr>
      <vt:lpstr>ChronicleVTI</vt:lpstr>
      <vt:lpstr>Charges and Cost Differential for Vaginal Births Among Privately Insured Patients in NYC: A 2021-2024 SPARCS Analysis</vt:lpstr>
      <vt:lpstr>Background and RAtionale</vt:lpstr>
      <vt:lpstr>Data Source</vt:lpstr>
      <vt:lpstr>LLM Prompts (Gemini)</vt:lpstr>
      <vt:lpstr>Model/Analysis/Results</vt:lpstr>
      <vt:lpstr>Conclusions</vt:lpstr>
      <vt:lpstr>Limitations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Rose Calixte</dc:creator>
  <cp:lastModifiedBy>Rose Calixte</cp:lastModifiedBy>
  <cp:revision>2</cp:revision>
  <dcterms:created xsi:type="dcterms:W3CDTF">2026-07-13T01:01:56Z</dcterms:created>
  <dcterms:modified xsi:type="dcterms:W3CDTF">2026-07-13T03:44:32Z</dcterms:modified>
</cp:coreProperties>
</file>